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1" r:id="rId5"/>
    <p:sldMasterId id="2147483652" r:id="rId6"/>
    <p:sldMasterId id="2147483653" r:id="rId7"/>
    <p:sldMasterId id="2147483654" r:id="rId8"/>
    <p:sldMasterId id="2147483655" r:id="rId9"/>
    <p:sldMasterId id="2147483656" r:id="rId10"/>
    <p:sldMasterId id="2147483657" r:id="rId11"/>
    <p:sldMasterId id="2147483658" r:id="rId12"/>
    <p:sldMasterId id="2147483659" r:id="rId13"/>
    <p:sldMasterId id="2147483660" r:id="rId14"/>
    <p:sldMasterId id="2147483661" r:id="rId15"/>
    <p:sldMasterId id="2147483663" r:id="rId16"/>
    <p:sldMasterId id="2147483665" r:id="rId17"/>
  </p:sldMasterIdLst>
  <p:notesMasterIdLst>
    <p:notesMasterId r:id="rId18"/>
  </p:notesMasterIdLst>
  <p:sldIdLst>
    <p:sldId id="256" r:id="rId19"/>
    <p:sldId id="258" r:id="rId21"/>
    <p:sldId id="259" r:id="rId22"/>
    <p:sldId id="260" r:id="rId23"/>
    <p:sldId id="261" r:id="rId24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62" r:id="rId25"/>
  </p:sldIdLst>
  <p:sldSz cx="12193588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16.xml"/><Relationship Id="rId26" Type="http://schemas.openxmlformats.org/officeDocument/2006/relationships/presProps" Target="presProps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2666880" y="573120"/>
            <a:ext cx="5027760" cy="2828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1f497d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hdr"/>
          </p:nvPr>
        </p:nvSpPr>
        <p:spPr>
          <a:xfrm>
            <a:off x="-360" y="-360"/>
            <a:ext cx="4497480" cy="3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dt" idx="49"/>
          </p:nvPr>
        </p:nvSpPr>
        <p:spPr>
          <a:xfrm>
            <a:off x="5865480" y="-360"/>
            <a:ext cx="4497480" cy="3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ftr" idx="50"/>
          </p:nvPr>
        </p:nvSpPr>
        <p:spPr>
          <a:xfrm>
            <a:off x="-36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 type="sldNum" idx="51"/>
          </p:nvPr>
        </p:nvSpPr>
        <p:spPr>
          <a:xfrm>
            <a:off x="586548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B2A7E4-58D5-4202-9691-EB5FA58EEFB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6240" cy="342900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B8C7CE57-CD79-4E42-B719-47B14D6E0F4D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6240" cy="342900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4E2D4D1C-B52A-40F3-AC76-1A7945595224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6240" cy="34290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31A317C7-B21B-4221-B4CE-ECC213D32050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6240" cy="342900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94EF95C0-1518-49FD-8C2F-2DC0617FE14F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6240" cy="342900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A77370FD-2C07-41F9-BFD1-F9754A75396C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0B0F6FDB-A9A6-4A78-BE43-FCCCE2FFBF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FD185DCF-F2FF-42B1-966E-541A6BCBAC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1f497d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52CF0C9-6805-4F69-98F2-7B9B093C5F24}" type="slidenum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2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6EA97B-CB8E-4AD3-A2B5-AEF1CCDF5B24}" type="datetime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21/09/26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3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pc="-1" strike="noStrike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6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C87F6E68-A86C-4F0C-802A-7513A5148CCB}" type="slidenum">
              <a:rPr b="0" lang="en-US" sz="12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1f497d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F11F554-1BB9-4E53-BFCC-9091C6A04B55}" type="datetime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21/09/26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2590560" y="633888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pc="-1" strike="noStrike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56F3298-A0EE-4D9F-93FD-D075B5DD5E7D}" type="slidenum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13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F78E5104-C0CD-4E18-9CE5-AB9AA5FFF562}" type="slidenum">
              <a:rPr b="0" lang="en-US" sz="12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1f497d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42B7D2F-18CF-4DA8-8089-B7A8F89E37A2}" type="datetime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21/09/26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pc="-1" strike="noStrike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1B24567-14BD-4D26-9877-2EE4322D3D69}" type="slidenum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20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4C75C174-79CB-4997-80B9-92572B3977D0}" type="slidenum">
              <a:rPr b="0" lang="en-US" sz="12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1f497d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0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79AD1D1-D896-4C92-97BC-A8D9C2A3A276}" type="datetime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21/09/26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1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pc="-1" strike="noStrike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0CE4663-B5D7-4BA7-9F3C-57A4D0E18C32}" type="slidenum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 descr="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27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9BAD63E1-920D-47B0-9BEF-28E08FE24FC4}" type="slidenum">
              <a:rPr b="0" lang="en-US" sz="12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1f497d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520CA04-0A40-44FE-A9FB-C44464AF106E}" type="datetime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21/09/26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pc="-1" strike="noStrike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86B103D-7D0A-43E8-815B-A306E387618D}" type="slidenum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2" descr="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34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08DAEF01-C882-468F-BE16-5FADDA98A855}" type="slidenum">
              <a:rPr b="0" lang="en-US" sz="12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1f497d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16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459757D-8BEA-4515-90BA-A4C1F0080CDB}" type="datetime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21/09/26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17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pc="-1" strike="noStrike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A5E7DAF-741E-44F4-98B2-CA444F7094F1}" type="slidenum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2" descr="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41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FB5169A6-D6B5-4322-A121-E9F51A583299}" type="slidenum">
              <a:rPr b="0" lang="en-US" sz="12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1f497d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19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3630CEE-0C25-4806-AE0A-273DC39EF9C1}" type="datetime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21/09/26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0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pc="-1" strike="noStrike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FDEA791-177F-42A1-919B-D3DABADBB4F0}" type="slidenum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2" descr="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48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51699811-91E1-4F11-9BF0-9CBF8FDF2A6D}" type="slidenum">
              <a:rPr b="0" lang="en-US" sz="12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1f497d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2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4EAB0B-A169-4F64-A54C-DC63CB1CFFBD}" type="datetime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21/09/26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3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pc="-1" strike="noStrike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53355AD-1DA8-4CB8-B298-CF61E6858EBF}" type="slidenum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2" descr="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55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D2CCC5E2-CCD4-4E89-8FEC-D17BFCFFC665}" type="slidenum">
              <a:rPr b="0" lang="en-US" sz="12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1f497d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25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E33F54B-325B-45EA-9C34-80875993AC69}" type="datetime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21/09/26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26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pc="-1" strike="noStrike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27A74F3-4011-4375-82B4-76700E7C82F9}" type="slidenum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 descr="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62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9FFC07C9-46A5-4541-8226-AF40804FEEE1}" type="slidenum">
              <a:rPr b="0" lang="en-US" sz="12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1f497d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dt" idx="28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1346B3E-3FFC-43E9-BE2C-A8479ECFA301}" type="datetime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21/09/26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ftr" idx="29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pc="-1" strike="noStrike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9541674-CAFE-4F7F-AF14-DCB5861B50ED}" type="slidenum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 descr="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69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63BBF78B-79BE-4A04-89C6-3F7EA4A158CF}" type="slidenum">
              <a:rPr b="0" lang="en-US" sz="12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1f497d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dt" idx="31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A01D5FD-7884-417B-8DB5-8ED763172606}" type="datetime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21/09/26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ftr" idx="32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pc="-1" strike="noStrike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1D6AE2A-A9E4-4A3E-9FE5-66C1A4B37FE6}" type="slidenum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 descr="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76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55B597ED-365A-4C36-A8AA-9ABAA9EA3354}" type="slidenum">
              <a:rPr b="0" lang="en-US" sz="12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1f497d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dt" idx="34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2353BCC-223D-4973-9651-8758FCE279DB}" type="datetime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21/09/26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ftr" idx="35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pc="-1" strike="noStrike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E7FE7BD-5206-4E9C-AB54-287B60B84B69}" type="slidenum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2" descr="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83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E9A25EEC-7EC3-4FF1-9D7C-77D9194A556E}" type="slidenum">
              <a:rPr b="0" lang="en-US" sz="12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1f497d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dt" idx="37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A2508CA-E10C-4B34-AF99-CDD2EB00A57B}" type="datetime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21/09/26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ftr" idx="38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pc="-1" strike="noStrike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FB91C22-050C-4E97-AF0C-2024B3580924}" type="slidenum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2" descr=""/>
          <p:cNvPicPr/>
          <p:nvPr/>
        </p:nvPicPr>
        <p:blipFill>
          <a:blip r:embed="rId2"/>
          <a:stretch/>
        </p:blipFill>
        <p:spPr>
          <a:xfrm>
            <a:off x="-533520" y="-504720"/>
            <a:ext cx="3249720" cy="1800000"/>
          </a:xfrm>
          <a:prstGeom prst="rect">
            <a:avLst/>
          </a:prstGeom>
          <a:ln w="0">
            <a:noFill/>
          </a:ln>
        </p:spPr>
      </p:pic>
      <p:sp>
        <p:nvSpPr>
          <p:cNvPr id="90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7282764B-A34F-4806-8021-63AD2A9DA822}" type="slidenum">
              <a:rPr b="0" lang="en-US" sz="12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1f497d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dt" idx="40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B2E17F2-9098-48E4-8F78-FD61F1C5C92E}" type="datetime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21/09/26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ftr" idx="41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pc="-1" strike="noStrike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E65272C-6FC1-41E2-9AD9-BB462C2427C0}" type="slidenum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4" descr=""/>
          <p:cNvPicPr/>
          <p:nvPr/>
        </p:nvPicPr>
        <p:blipFill>
          <a:blip r:embed="rId2"/>
          <a:stretch/>
        </p:blipFill>
        <p:spPr>
          <a:xfrm>
            <a:off x="2567160" y="592200"/>
            <a:ext cx="7610400" cy="1008000"/>
          </a:xfrm>
          <a:prstGeom prst="rect">
            <a:avLst/>
          </a:prstGeom>
          <a:ln w="0">
            <a:noFill/>
          </a:ln>
        </p:spPr>
      </p:pic>
      <p:sp>
        <p:nvSpPr>
          <p:cNvPr id="97" name="Slide Number Placeholder 3"/>
          <p:cNvSpPr/>
          <p:nvPr/>
        </p:nvSpPr>
        <p:spPr>
          <a:xfrm>
            <a:off x="10272600" y="6356520"/>
            <a:ext cx="1081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498B10FC-CC75-4D5B-B010-321B581A6E42}" type="slidenum">
              <a:rPr b="0" lang="en-US" sz="12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1f497d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dt" idx="43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1A19B9-9A51-41C0-B16D-593C7512FB68}" type="datetime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21/09/26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ftr" idx="44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pc="-1" strike="noStrike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1ECEBBE-7AB1-483A-9E74-3E7425466019}" type="slidenum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4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4" descr=""/>
          <p:cNvPicPr/>
          <p:nvPr/>
        </p:nvPicPr>
        <p:blipFill>
          <a:blip r:embed="rId2"/>
          <a:stretch/>
        </p:blipFill>
        <p:spPr>
          <a:xfrm>
            <a:off x="-533520" y="-504720"/>
            <a:ext cx="3249720" cy="1800000"/>
          </a:xfrm>
          <a:prstGeom prst="rect">
            <a:avLst/>
          </a:prstGeom>
          <a:ln w="0">
            <a:noFill/>
          </a:ln>
        </p:spPr>
      </p:pic>
      <p:sp>
        <p:nvSpPr>
          <p:cNvPr id="104" name="Slide Number Placeholder 3"/>
          <p:cNvSpPr/>
          <p:nvPr/>
        </p:nvSpPr>
        <p:spPr>
          <a:xfrm>
            <a:off x="10272600" y="6356520"/>
            <a:ext cx="1081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fld id="{FFEE78F3-A5EE-4745-874B-07F9D332D4D4}" type="slidenum">
              <a:rPr b="0" lang="en-US" sz="1200" spc="-1" strike="noStrike">
                <a:solidFill>
                  <a:srgbClr val="898989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1f497d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46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DDB579-75ED-464E-A8E9-C1CFFF683D14}" type="datetime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21/09/26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ftr" idx="47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it-IT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it-IT" sz="1200" spc="-1" strike="noStrike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200" spc="-1" strike="noStrike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9F5A7CB-8DD3-44E3-A13E-5AA39F8A0733}" type="slidenum">
              <a:rPr b="0" lang="en-IN" sz="1200" spc="-1" strike="noStrike">
                <a:solidFill>
                  <a:srgbClr val="898989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1"/>
          <p:cNvSpPr/>
          <p:nvPr/>
        </p:nvSpPr>
        <p:spPr>
          <a:xfrm>
            <a:off x="623880" y="1150000"/>
            <a:ext cx="10696680" cy="21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</a:pPr>
            <a:r>
              <a:rPr b="1" lang="en-IN" sz="2000" spc="-1" strike="noStrike">
                <a:solidFill>
                  <a:srgbClr val="0070c0"/>
                </a:solidFill>
                <a:latin typeface="Calibri"/>
              </a:rPr>
              <a:t>CAPSTONE PROJECT – REVIEW 2</a:t>
            </a:r>
          </a:p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b="1" lang="en-IN" sz="3600" spc="-1" strike="noStrike">
                <a:solidFill>
                  <a:srgbClr val="21409a"/>
                </a:solidFill>
                <a:latin typeface="Calibri"/>
              </a:rPr>
              <a:t>EMPLOYEE PAYROLL MANAGEMENT SYSTEM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b="1" lang="en-IN" sz="2200" spc="-1" strike="noStrike">
                <a:solidFill>
                  <a:srgbClr val="21409a"/>
                </a:solidFill>
                <a:latin typeface="Calibri"/>
              </a:rPr>
              <a:t>Using Object-Oriented Programming in C++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ubtitle 2"/>
          <p:cNvSpPr/>
          <p:nvPr/>
        </p:nvSpPr>
        <p:spPr>
          <a:xfrm>
            <a:off x="3962520" y="3809880"/>
            <a:ext cx="8076960" cy="20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000" spc="-1" strike="noStrike">
                <a:solidFill>
                  <a:srgbClr val="0070c0"/>
                </a:solidFill>
                <a:latin typeface="Calibri"/>
              </a:rPr>
              <a:t>PRESENTED BY: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000" spc="-1" strike="noStrike">
                <a:solidFill>
                  <a:srgbClr val="0070c0"/>
                </a:solidFill>
                <a:latin typeface="Calibri"/>
              </a:rPr>
              <a:t>R. JOSHIKA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000" spc="-1" strike="noStrike">
                <a:solidFill>
                  <a:srgbClr val="0070c0"/>
                </a:solidFill>
                <a:latin typeface="Calibri"/>
              </a:rPr>
              <a:t>R. ROHITH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000" spc="-1" strike="noStrike">
                <a:solidFill>
                  <a:srgbClr val="0070c0"/>
                </a:solidFill>
                <a:latin typeface="Calibri"/>
              </a:rPr>
              <a:t>R. ANUSHA SREE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1" lang="en-US" sz="2000" spc="-1" strike="noStrike">
                <a:solidFill>
                  <a:srgbClr val="0070c0"/>
                </a:solidFill>
                <a:latin typeface="Calibri"/>
              </a:rPr>
              <a:t>S. BHAVYA SRI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spcBef>
                <a:spcPts val="799"/>
              </a:spcBef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Project Overview</a:t>
            </a:r>
            <a:br>
              <a:rPr sz="4800"/>
            </a:br>
            <a:endParaRPr b="0" lang="en-US" sz="48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595440" y="1066680"/>
            <a:ext cx="1097280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000000"/>
                </a:solidFill>
                <a:latin typeface="Century Schoolbook"/>
                <a:ea typeface="Times New Roman"/>
              </a:rPr>
              <a:t>Employee Payroll Management System is a C++ console application that automates the calculation and management of employee salaries for an organization.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000000"/>
                </a:solidFill>
                <a:latin typeface="Century Schoolbook"/>
                <a:ea typeface="Times New Roman"/>
              </a:rPr>
              <a:t>The system is built using Object-Oriented Programming, with employees modeled as objects and separate classes handling Permanent and Contract employee payroll rules.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000000"/>
                </a:solidFill>
                <a:latin typeface="Century Schoolbook"/>
                <a:ea typeface="Times New Roman"/>
              </a:rPr>
              <a:t>It manages employee records, calculates allowances and deductions, generates individual payslips, and produces an overall payroll report through a simple menu-driven interface.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80000"/>
              </a:lnSpc>
              <a:spcBef>
                <a:spcPts val="1412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spcBef>
                <a:spcPts val="799"/>
              </a:spcBef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Problem Statement</a:t>
            </a:r>
            <a:endParaRPr b="0" lang="en-US" sz="48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631800" y="1258920"/>
            <a:ext cx="1097280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Manual payroll processing is time-consuming for the HR / accounts team.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Manual salary calculations are prone to human errors.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Permanent and contract employees have different, complex salary rules to apply.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Manual methods lead to delays and inconsistencies while generating payslips and reports.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spcBef>
                <a:spcPts val="799"/>
              </a:spcBef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Objectives</a:t>
            </a:r>
            <a:endParaRPr b="0" lang="en-US" sz="48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631800" y="1258920"/>
            <a:ext cx="1097280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Automate payroll processing for permanent and contract employees.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Maintain employee records using an object-oriented design.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Automatically calculate allowances, deductions, gross salary and net salary.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Generate individual employee payslips.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Apply OOP concepts — encapsulation, inheritance, abstraction and polymorphism.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Reduce manual calculation errors and save processing time.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spcBef>
                <a:spcPts val="799"/>
              </a:spcBef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System Modules</a:t>
            </a:r>
            <a:endParaRPr b="0" lang="en-US" sz="48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631800" y="1258920"/>
            <a:ext cx="1097280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Employee Record Management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Salary Calculation (Allowance &amp; Deduction)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Payslip Generation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Employee Search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Payroll Report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0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Menu-Driven Interface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spcBef>
                <a:spcPts val="799"/>
              </a:spcBef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Implementation Progress</a:t>
            </a:r>
            <a:endParaRPr b="0" lang="en-US" sz="48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700000" y="115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000000"/>
                </a:solidFill>
                <a:latin typeface="Times New Roman"/>
              </a:rPr>
              <a:t>The Review-0 design has now been converted into a working C++ console implementation: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00000" y="1850000"/>
            <a:ext cx="2280000" cy="9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Input Employee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Details</a:t>
            </a:r>
          </a:p>
        </p:txBody>
      </p:sp>
      <p:sp>
        <p:nvSpPr>
          <p:cNvPr id="132" name="Right Arrow 131"/>
          <p:cNvSpPr/>
          <p:nvPr/>
        </p:nvSpPr>
        <p:spPr>
          <a:xfrm>
            <a:off x="2980000" y="2235000"/>
            <a:ext cx="260000" cy="18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240000" y="1850000"/>
            <a:ext cx="2280000" cy="9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Create Employee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Object</a:t>
            </a:r>
          </a:p>
        </p:txBody>
      </p:sp>
      <p:sp>
        <p:nvSpPr>
          <p:cNvPr id="134" name="Right Arrow 133"/>
          <p:cNvSpPr/>
          <p:nvPr/>
        </p:nvSpPr>
        <p:spPr>
          <a:xfrm>
            <a:off x="5520000" y="2235000"/>
            <a:ext cx="260000" cy="18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780000" y="1850000"/>
            <a:ext cx="2280000" cy="9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Select Employee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Type</a:t>
            </a:r>
          </a:p>
        </p:txBody>
      </p:sp>
      <p:sp>
        <p:nvSpPr>
          <p:cNvPr id="136" name="Right Arrow 135"/>
          <p:cNvSpPr/>
          <p:nvPr/>
        </p:nvSpPr>
        <p:spPr>
          <a:xfrm>
            <a:off x="8060000" y="2235000"/>
            <a:ext cx="260000" cy="18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320000" y="1850000"/>
            <a:ext cx="2280000" cy="9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Calculate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Allowance</a:t>
            </a:r>
          </a:p>
        </p:txBody>
      </p:sp>
      <p:sp>
        <p:nvSpPr>
          <p:cNvPr id="138" name="Down Arrow 137"/>
          <p:cNvSpPr/>
          <p:nvPr/>
        </p:nvSpPr>
        <p:spPr>
          <a:xfrm>
            <a:off x="1750000" y="2830000"/>
            <a:ext cx="180000" cy="690000"/>
          </a:xfrm>
          <a:prstGeom prst="down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50000" y="2830000"/>
            <a:ext cx="2600000" cy="6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 i="0">
                <a:solidFill>
                  <a:srgbClr val="000000"/>
                </a:solidFill>
                <a:latin typeface="Times New Roman"/>
              </a:rPr>
              <a:t/>
            </a:r>
          </a:p>
        </p:txBody>
      </p:sp>
      <p:sp>
        <p:nvSpPr>
          <p:cNvPr id="140" name="Rectangle 139"/>
          <p:cNvSpPr/>
          <p:nvPr/>
        </p:nvSpPr>
        <p:spPr>
          <a:xfrm>
            <a:off x="700000" y="3550000"/>
            <a:ext cx="2280000" cy="9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Calculate Gross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Salary</a:t>
            </a:r>
          </a:p>
        </p:txBody>
      </p:sp>
      <p:sp>
        <p:nvSpPr>
          <p:cNvPr id="141" name="Right Arrow 140"/>
          <p:cNvSpPr/>
          <p:nvPr/>
        </p:nvSpPr>
        <p:spPr>
          <a:xfrm>
            <a:off x="2980000" y="3935000"/>
            <a:ext cx="260000" cy="18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3240000" y="3550000"/>
            <a:ext cx="2280000" cy="9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Calculate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Deduction</a:t>
            </a:r>
          </a:p>
        </p:txBody>
      </p:sp>
      <p:sp>
        <p:nvSpPr>
          <p:cNvPr id="143" name="Right Arrow 142"/>
          <p:cNvSpPr/>
          <p:nvPr/>
        </p:nvSpPr>
        <p:spPr>
          <a:xfrm>
            <a:off x="5520000" y="3935000"/>
            <a:ext cx="260000" cy="18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780000" y="3550000"/>
            <a:ext cx="2280000" cy="9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Calculate Net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Salary</a:t>
            </a:r>
          </a:p>
        </p:txBody>
      </p:sp>
      <p:sp>
        <p:nvSpPr>
          <p:cNvPr id="145" name="Right Arrow 144"/>
          <p:cNvSpPr/>
          <p:nvPr/>
        </p:nvSpPr>
        <p:spPr>
          <a:xfrm>
            <a:off x="8060000" y="3935000"/>
            <a:ext cx="260000" cy="18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320000" y="3550000"/>
            <a:ext cx="2280000" cy="9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Generate Payslip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/ Report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00000" y="4750000"/>
            <a:ext cx="10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Times New Roman"/>
              </a:rPr>
              <a:t>Implementation uses a vector&lt;unique_ptr&lt;Employee&gt;&gt; to store polymorphic employee objects, with allowance/deduction logic resolved at runtime through virtual functions.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spcBef>
                <a:spcPts val="799"/>
              </a:spcBef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Class Structure</a:t>
            </a:r>
            <a:endParaRPr b="0" lang="en-US" sz="48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4296794" y="1300000"/>
            <a:ext cx="3600000" cy="1500000"/>
          </a:xfrm>
          <a:prstGeom prst="rect">
            <a:avLst/>
          </a:prstGeom>
          <a:solidFill>
            <a:srgbClr val="EAF1FB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Employee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(Abstract Base Class)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- employeeId, name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- department, designation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- basicSalary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091794" y="2800000"/>
            <a:ext cx="1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" b="0" i="0">
                <a:solidFill>
                  <a:srgbClr val="000000"/>
                </a:solidFill>
                <a:latin typeface="Times New Roman"/>
              </a:rPr>
              <a:t/>
            </a:r>
          </a:p>
        </p:txBody>
      </p:sp>
      <p:sp>
        <p:nvSpPr>
          <p:cNvPr id="132" name="Rectangle 131"/>
          <p:cNvSpPr/>
          <p:nvPr/>
        </p:nvSpPr>
        <p:spPr>
          <a:xfrm>
            <a:off x="6096794" y="2800000"/>
            <a:ext cx="25000" cy="350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496794" y="3150000"/>
            <a:ext cx="5200000" cy="25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496794" y="3150000"/>
            <a:ext cx="25000" cy="300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696794" y="3150000"/>
            <a:ext cx="25000" cy="300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346794" y="3450000"/>
            <a:ext cx="4300000" cy="1900000"/>
          </a:xfrm>
          <a:prstGeom prst="rect">
            <a:avLst/>
          </a:prstGeom>
          <a:solidFill>
            <a:srgbClr val="EAFBEE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PermanentEmployee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- bonus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calculateAllowance(): HRA + DA + bonus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calculateDeduction(): 12% PF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546794" y="3450000"/>
            <a:ext cx="4300000" cy="1900000"/>
          </a:xfrm>
          <a:prstGeom prst="rect">
            <a:avLst/>
          </a:prstGeom>
          <a:solidFill>
            <a:srgbClr val="FBF3EA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ContractEmployee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- transportAllowance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calculateAllowance(): transport allowance</a:t>
            </a:r>
          </a:p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calculateDeduction(): 5% of basic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00000" y="55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Times New Roman"/>
              </a:rPr>
              <a:t>Both classes inherit from Employee and override the pure virtual functions calculateAllowance(), calculateDeduction() and getEmployeeType() (runtime polymorphism).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spcBef>
                <a:spcPts val="799"/>
              </a:spcBef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OOP Concepts Used</a:t>
            </a:r>
            <a:endParaRPr b="0" lang="en-US" sz="4800" spc="-1" strike="noStrike">
              <a:solidFill>
                <a:srgbClr val="1f497d"/>
              </a:solidFill>
              <a:latin typeface="Arial"/>
            </a:endParaRPr>
          </a:p>
        </p:txBody>
      </p:sp>
      <p:graphicFrame>
        <p:nvGraphicFramePr>
          <p:cNvPr id="130" name="Table 129"/>
          <p:cNvGraphicFramePr>
            <a:graphicFrameLocks noGrp="1"/>
          </p:cNvGraphicFramePr>
          <p:nvPr/>
        </p:nvGraphicFramePr>
        <p:xfrm>
          <a:off x="600000" y="1350000"/>
          <a:ext cx="11000000" cy="5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8100000"/>
              </a:tblGrid>
              <a:tr h="6375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Times New Roman"/>
                        </a:rPr>
                        <a:t>Concept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Times New Roman"/>
                        </a:rPr>
                        <a:t>Implementation in this Project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637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Class &amp; Object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Employee, PermanentEmployee, ContractEmployee classes; objects created via make_unique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7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Encapsulation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Employee data (id, name, salary...) and related functions grouped inside the classes as protected/private members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7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Inheritance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PermanentEmployee and ContractEmployee inherit from the Employee base class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7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Abstraction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Employee declares pure virtual functions — the derived classes must implement the actual logic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7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Polymorphism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calculateAllowance() and calculateDeduction() behave differently for each employee type at runtime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7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Constructor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Each class initializes employee details through its own constructor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75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Virtual Function / Overriding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Times New Roman"/>
                        </a:rPr>
                        <a:t>calculateAllowance(), calculateDeduction(), getEmployeeType() are virtual and overridden in derived classes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spcBef>
                <a:spcPts val="799"/>
              </a:spcBef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Core C++ Implementation</a:t>
            </a:r>
            <a:endParaRPr b="0" lang="en-US" sz="48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50000" y="1200000"/>
            <a:ext cx="11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Employee is declared as an abstract base class using pure virtual functions: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0000" y="1750000"/>
            <a:ext cx="10900000" cy="2450000"/>
          </a:xfrm>
          <a:prstGeom prst="rect">
            <a:avLst/>
          </a:prstGeom>
          <a:solidFill>
            <a:srgbClr val="24242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80000" tIns="80000" bIns="80000"/>
          <a:lstStyle/>
          <a:p>
            <a:pPr algn="ctr"/>
            <a:r>
              <a:rPr sz="1500">
                <a:solidFill>
                  <a:srgbClr val="E8E8E8"/>
                </a:solidFill>
                <a:latin typeface="Consolas"/>
              </a:rPr>
              <a:t>class Employee {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protected: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    int employeeId; string name, department, designation;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    double basicSalary;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public: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    virtual double calculateAllowance() const = 0;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    virtual double calculateDeduction() const = 0;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    virtual string getEmployeeType() const = 0;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    ...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};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50000" y="4350000"/>
            <a:ext cx="11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PermanentEmployee overrides these functions with its own payroll rule: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0000" y="4850000"/>
            <a:ext cx="10900000" cy="1550000"/>
          </a:xfrm>
          <a:prstGeom prst="rect">
            <a:avLst/>
          </a:prstGeom>
          <a:solidFill>
            <a:srgbClr val="24242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80000" tIns="80000" bIns="80000"/>
          <a:lstStyle/>
          <a:p>
            <a:pPr algn="ctr"/>
            <a:r>
              <a:rPr sz="1500">
                <a:solidFill>
                  <a:srgbClr val="E8E8E8"/>
                </a:solidFill>
                <a:latin typeface="Consolas"/>
              </a:rPr>
              <a:t>double PermanentEmployee::calculateAllowance() const override {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    double hra = basicSalary * 0.20;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    double da  = basicSalary * 0.10;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    return hra + da + bonus;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}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spcBef>
                <a:spcPts val="799"/>
              </a:spcBef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Salary Calculation</a:t>
            </a:r>
            <a:endParaRPr b="0" lang="en-US" sz="48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650000" y="1300000"/>
            <a:ext cx="5300000" cy="4700000"/>
          </a:xfrm>
          <a:prstGeom prst="rect">
            <a:avLst/>
          </a:prstGeom>
          <a:solidFill>
            <a:srgbClr val="EAF1FB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Permanent Employee</a:t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HRA = 20% of Basic Salary</a:t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DA = 10% of Basic Salary</a:t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Allowance = HRA + DA + Bonus</a:t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PF Deduction = 12% of Basic Salary</a:t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Gross Salary = Basic + Allowance</a:t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Net Salary = Gross − Deduction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300000" y="1300000"/>
            <a:ext cx="5300000" cy="4700000"/>
          </a:xfrm>
          <a:prstGeom prst="rect">
            <a:avLst/>
          </a:prstGeom>
          <a:solidFill>
            <a:srgbClr val="FBF3EA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Contract Employee</a:t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Allowance = Transport Allowance</a:t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Deduction = 5% of Basic Salary</a:t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Gross Salary = Basic + Allowance</a:t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Times New Roman"/>
              </a:rPr>
              <a:t>Net Salary = Gross − Deduction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50000" y="615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Times New Roman"/>
              </a:rPr>
              <a:t>These are the exact salary rules implemented in calculateAllowance() and calculateDeduction() for each employee class.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spcBef>
                <a:spcPts val="799"/>
              </a:spcBef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Code Execution and Output</a:t>
            </a:r>
            <a:endParaRPr b="0" lang="en-US" sz="48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130" name="Rectangle 129"/>
          <p:cNvSpPr/>
          <p:nvPr/>
        </p:nvSpPr>
        <p:spPr>
          <a:xfrm>
            <a:off x="650000" y="1500000"/>
            <a:ext cx="3500000" cy="550000"/>
          </a:xfrm>
          <a:prstGeom prst="rect">
            <a:avLst/>
          </a:prstGeom>
          <a:solidFill>
            <a:srgbClr val="EAF1FB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800" b="1">
                <a:solidFill>
                  <a:srgbClr val="000000"/>
                </a:solidFill>
                <a:latin typeface="Times New Roman"/>
              </a:rPr>
              <a:t>INPUT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0000" y="2150000"/>
            <a:ext cx="3500000" cy="29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Employee ID, Name,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Department, Designation,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Basic Salary,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Employee Type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(Permanent / Contract)</a:t>
            </a:r>
          </a:p>
        </p:txBody>
      </p:sp>
      <p:sp>
        <p:nvSpPr>
          <p:cNvPr id="132" name="Right Arrow 131"/>
          <p:cNvSpPr/>
          <p:nvPr/>
        </p:nvSpPr>
        <p:spPr>
          <a:xfrm>
            <a:off x="4150000" y="3200000"/>
            <a:ext cx="340000" cy="20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90000" y="1500000"/>
            <a:ext cx="3500000" cy="550000"/>
          </a:xfrm>
          <a:prstGeom prst="rect">
            <a:avLst/>
          </a:prstGeom>
          <a:solidFill>
            <a:srgbClr val="EAFBEE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800" b="1">
                <a:solidFill>
                  <a:srgbClr val="000000"/>
                </a:solidFill>
                <a:latin typeface="Times New Roman"/>
              </a:rPr>
              <a:t>PROCESS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490000" y="2150000"/>
            <a:ext cx="3500000" cy="29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Create Employee object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(make_unique)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Calculate Allowance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Calculate Deduction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Calculate Gross / Net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Salary</a:t>
            </a:r>
          </a:p>
        </p:txBody>
      </p:sp>
      <p:sp>
        <p:nvSpPr>
          <p:cNvPr id="135" name="Right Arrow 134"/>
          <p:cNvSpPr/>
          <p:nvPr/>
        </p:nvSpPr>
        <p:spPr>
          <a:xfrm>
            <a:off x="7990000" y="3200000"/>
            <a:ext cx="340000" cy="200000"/>
          </a:xfrm>
          <a:prstGeom prst="rightArrow">
            <a:avLst/>
          </a:prstGeom>
          <a:solidFill>
            <a:srgbClr val="595959"/>
          </a:solidFill>
          <a:ln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330000" y="1500000"/>
            <a:ext cx="3500000" cy="550000"/>
          </a:xfrm>
          <a:prstGeom prst="rect">
            <a:avLst/>
          </a:prstGeom>
          <a:solidFill>
            <a:srgbClr val="FBF3EA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800" b="1">
                <a:solidFill>
                  <a:srgbClr val="000000"/>
                </a:solidFill>
                <a:latin typeface="Times New Roman"/>
              </a:rPr>
              <a:t>OUTPUT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330000" y="2150000"/>
            <a:ext cx="3500000" cy="29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20000" bIns="20000"/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Payslip displayed on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console via</a:t>
            </a:r>
          </a:p>
          <a:p>
            <a:pPr algn="ctr"/>
            <a:r>
              <a:rPr sz="1400" b="0">
                <a:solidFill>
                  <a:srgbClr val="000000"/>
                </a:solidFill>
                <a:latin typeface="Times New Roman"/>
              </a:rPr>
              <a:t>displayPayslip()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0000" y="535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Times New Roman"/>
              </a:rPr>
              <a:t>The program is run via the menu-driven interface (Add Employee → Display / Search / Generate Payslip / Payroll Report → Exit).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spcBef>
                <a:spcPts val="799"/>
              </a:spcBef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Payslip Output</a:t>
            </a:r>
            <a:endParaRPr b="0" lang="en-US" sz="48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50000" y="1200000"/>
            <a:ext cx="11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Sample console output produced by displayPayslip() for a Permanent Employee: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300000" y="1750000"/>
            <a:ext cx="9600000" cy="4300000"/>
          </a:xfrm>
          <a:prstGeom prst="rect">
            <a:avLst/>
          </a:prstGeom>
          <a:solidFill>
            <a:srgbClr val="242424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0000" rIns="80000" tIns="80000" bIns="80000"/>
          <a:lstStyle/>
          <a:p>
            <a:pPr algn="ctr"/>
            <a:r>
              <a:rPr sz="1500">
                <a:solidFill>
                  <a:srgbClr val="E8E8E8"/>
                </a:solidFill>
                <a:latin typeface="Consolas"/>
              </a:rPr>
              <a:t>============================================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              EMPLOYEE PAYSLIP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============================================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Employee ID       : 101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Employee Name     : A. Kiran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Employee Type     : Permanent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Department        : IT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Designation       : Software Engineer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--------------------------------------------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Basic Salary      : Rs. 30000.00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Allowances        : Rs. 9000.00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Gross Salary      : Rs. 39000.00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Deductions        : Rs. 3600.00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--------------------------------------------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Net Salary        : Rs. 35400.00</a:t>
            </a:r>
          </a:p>
          <a:p>
            <a:r>
              <a:rPr sz="1500">
                <a:solidFill>
                  <a:srgbClr val="E8E8E8"/>
                </a:solidFill>
                <a:latin typeface="Consolas"/>
              </a:rPr>
              <a:t>============================================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spcBef>
                <a:spcPts val="799"/>
              </a:spcBef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Payroll Report</a:t>
            </a:r>
            <a:endParaRPr b="0" lang="en-US" sz="48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50000" y="1200000"/>
            <a:ext cx="11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payrollReport() loops through every employee in the vector and accumulates totals for the whole organization:</a:t>
            </a:r>
          </a:p>
        </p:txBody>
      </p:sp>
      <p:graphicFrame>
        <p:nvGraphicFramePr>
          <p:cNvPr id="131" name="Table 130"/>
          <p:cNvGraphicFramePr>
            <a:graphicFrameLocks noGrp="1"/>
          </p:cNvGraphicFramePr>
          <p:nvPr/>
        </p:nvGraphicFramePr>
        <p:xfrm>
          <a:off x="1600000" y="2050000"/>
          <a:ext cx="84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000"/>
                <a:gridCol w="3200000"/>
              </a:tblGrid>
              <a:tr h="600000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Times New Roman"/>
                        </a:rPr>
                        <a:t>Field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  <a:latin typeface="Times New Roman"/>
                        </a:rPr>
                        <a:t>Sample Value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Times New Roman"/>
                        </a:rPr>
                        <a:t>Number of Employees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Times New Roman"/>
                        </a:rPr>
                        <a:t>Total Basic Salary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Times New Roman"/>
                        </a:rPr>
                        <a:t>Rs. 78,000.00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Times New Roman"/>
                        </a:rPr>
                        <a:t>Total Gross Salary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Times New Roman"/>
                        </a:rPr>
                        <a:t>Rs. 99,800.00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Times New Roman"/>
                        </a:rPr>
                        <a:t>Total Deductions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Times New Roman"/>
                        </a:rPr>
                        <a:t>Rs. 8,260.00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Times New Roman"/>
                        </a:rPr>
                        <a:t>Total Net Salary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00000"/>
                          </a:solidFill>
                          <a:latin typeface="Times New Roman"/>
                        </a:rPr>
                        <a:t>Rs. 91,540.00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spcBef>
                <a:spcPts val="799"/>
              </a:spcBef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Validation / Error Handling</a:t>
            </a:r>
            <a:endParaRPr b="0" lang="en-US" sz="48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631800" y="1258920"/>
            <a:ext cx="1097280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Invalid employee type shown if the choice entered is not 1 (Permanent) or 2 (Contract).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"No employee records available" is shown when reports/listing are run on an empty list.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"Employee not found" is shown when a searched / requested Employee ID does not exist.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Invalid menu choice message is shown for any option outside 1–6 in the main menu.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/>
          <p:nvPr/>
        </p:nvSpPr>
        <p:spPr>
          <a:xfrm>
            <a:off x="623880" y="1773360"/>
            <a:ext cx="10696680" cy="16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ubtitle 2"/>
          <p:cNvSpPr/>
          <p:nvPr/>
        </p:nvSpPr>
        <p:spPr>
          <a:xfrm>
            <a:off x="792000" y="2895480"/>
            <a:ext cx="10358640" cy="261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spcBef>
                <a:spcPts val="799"/>
              </a:spcBef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800" spc="-1" strike="noStrike">
                <a:solidFill>
                  <a:srgbClr val="ff0000"/>
                </a:solidFill>
                <a:latin typeface="Times New Roman"/>
                <a:ea typeface="Times New Roman"/>
              </a:rPr>
              <a:t>Live Demonstration Flow</a:t>
            </a:r>
            <a:endParaRPr b="0" lang="en-US" sz="4800" spc="-1" strike="noStrike">
              <a:solidFill>
                <a:srgbClr val="1f497d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631800" y="1258920"/>
            <a:ext cx="1097280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1. Add Employee — add a Permanent and a Contract employee record.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2. Display All Employees — view stored records with gross / net salary.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3. Search Employee — search by Employee ID and view the full payslip.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4. Generate Payslip — print the payslip for a chosen Employee ID.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5. Payroll Report — view organization-wide payroll totals.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6. Exit — close the menu-driven application.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31640" indent="-323640">
              <a:lnSpc>
                <a:spcPct val="100000"/>
              </a:lnSpc>
              <a:spcBef>
                <a:spcPts val="1412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lide Number Placeholder 3"/>
          <p:cNvSpPr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A50B66-3251-42E3-87CD-6FA4960BC9FB}" type="slidenum">
              <a:rPr b="0" lang="en-IN" sz="1200" spc="-1" strike="noStrike">
                <a:solidFill>
                  <a:srgbClr val="898989"/>
                </a:solidFill>
                <a:latin typeface="Arial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Rectangle 1" descr=""/>
          <p:cNvPicPr/>
          <p:nvPr/>
        </p:nvPicPr>
        <p:blipFill>
          <a:blip r:embed="rId1"/>
          <a:stretch/>
        </p:blipFill>
        <p:spPr>
          <a:xfrm>
            <a:off x="2152800" y="3981600"/>
            <a:ext cx="7886520" cy="1206360"/>
          </a:xfrm>
          <a:prstGeom prst="rect">
            <a:avLst/>
          </a:prstGeom>
          <a:ln w="0">
            <a:noFill/>
          </a:ln>
        </p:spPr>
      </p:pic>
      <p:pic>
        <p:nvPicPr>
          <p:cNvPr id="141" name="Picture 6" descr="Kulanz kann dauerhaft zur Zahlung verpflichten » AGENTIN"/>
          <p:cNvPicPr/>
          <p:nvPr/>
        </p:nvPicPr>
        <p:blipFill>
          <a:blip r:embed="rId2"/>
          <a:srcRect l="0" t="0" r="0" b="21978"/>
          <a:stretch/>
        </p:blipFill>
        <p:spPr>
          <a:xfrm>
            <a:off x="3794040" y="1668600"/>
            <a:ext cx="4603680" cy="2387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33945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Administrator</dc:creator>
  <dc:description/>
  <dc:language>en-US</dc:language>
  <cp:lastModifiedBy>Anusha sree</cp:lastModifiedBy>
  <dcterms:modified xsi:type="dcterms:W3CDTF">2026-09-15T14:19:38Z</dcterms:modified>
  <cp:revision>451</cp:revision>
  <dc:subject/>
  <dc:title>UNIT-I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r8>0</vt:r8>
  </property>
  <property fmtid="{D5CDD505-2E9C-101B-9397-08002B2CF9AE}" pid="6" name="Notes">
    <vt:r8>21</vt:r8>
  </property>
  <property fmtid="{D5CDD505-2E9C-101B-9397-08002B2CF9AE}" pid="7" name="PresentationFormat">
    <vt:lpwstr>On-screen Show (4:3)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r8>118</vt:r8>
  </property>
</Properties>
</file>